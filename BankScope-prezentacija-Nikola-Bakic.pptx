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6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kscope-word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705684"/>
            <a:ext cx="2788920" cy="15512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534009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1E8F8"/>
                </a:solidFill>
                <a:latin typeface="Aptos"/>
              </a:rPr>
              <a:t>PROJEKAT STRUČNE PRAKSE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5099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Nikola Bakić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4418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83D5"/>
                </a:solidFill>
                <a:latin typeface="Aptos"/>
              </a:rPr>
              <a:t>02 · 09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0288" y="1060704"/>
            <a:ext cx="6309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59B1"/>
                </a:solidFill>
                <a:latin typeface="Aptos"/>
              </a:rPr>
              <a:t>BankScope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1591056"/>
            <a:ext cx="658368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13F"/>
                </a:solidFill>
                <a:latin typeface="Aptos"/>
              </a:rPr>
              <a:t>Inteligentno istraživanje
bankarskih 10-K izveštaja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08576" y="3236976"/>
            <a:ext cx="1106424" cy="0"/>
          </a:xfrm>
          <a:prstGeom prst="line">
            <a:avLst/>
          </a:prstGeom>
          <a:ln w="38100">
            <a:solidFill>
              <a:srgbClr val="EE4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90288" y="3547872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3459B1"/>
                </a:solidFill>
                <a:latin typeface="Aptos"/>
              </a:rPr>
              <a:t>Ask any question.
Follow the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4718304"/>
            <a:ext cx="6309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90"/>
                </a:solidFill>
                <a:latin typeface="Aptos"/>
              </a:rPr>
              <a:t>Lokalni RAG asistent za pouzdano istraživanje SEC dokumenata.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27278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57590"/>
                </a:solidFill>
                <a:latin typeface="Aptos"/>
              </a:rPr>
              <a:t>01.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30936"/>
            <a:ext cx="10863072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34472" y="2834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02 / 12</a:t>
            </a:r>
          </a:p>
        </p:txBody>
      </p:sp>
      <p:pic>
        <p:nvPicPr>
          <p:cNvPr id="5" name="Picture 4" descr="bankscope-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048" y="201168"/>
            <a:ext cx="202758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832104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13F"/>
                </a:solidFill>
                <a:latin typeface="Aptos"/>
              </a:rPr>
              <a:t>Od dokumenta do dokazive tvrdnje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35024"/>
            <a:ext cx="10378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10-K izveštaji nisu kratki PDF-ovi — oni su složeni izvori podataka i konteksta.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47088"/>
            <a:ext cx="2423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10213F"/>
                </a:solidFill>
                <a:latin typeface="Aptos"/>
              </a:rPr>
              <a:t>10-K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88920"/>
            <a:ext cx="251460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90"/>
                </a:solidFill>
                <a:latin typeface="Aptos"/>
              </a:rPr>
              <a:t>stotine strana narativa, tabela, fusnota i ponovljenih termina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1810512"/>
            <a:ext cx="0" cy="4206240"/>
          </a:xfrm>
          <a:prstGeom prst="line">
            <a:avLst/>
          </a:prstGeom>
          <a:ln w="38100">
            <a:solidFill>
              <a:srgbClr val="EE4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22191" y="186537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413B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847088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13F"/>
                </a:solidFill>
                <a:latin typeface="Aptos"/>
              </a:rPr>
              <a:t>Dokaz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847088"/>
            <a:ext cx="42611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90"/>
                </a:solidFill>
                <a:latin typeface="Aptos"/>
              </a:rPr>
              <a:t>Odakle tačno dolazi tvrdnja?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22191" y="2532888"/>
            <a:ext cx="7242049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22191" y="28712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413B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852928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13F"/>
                </a:solidFill>
                <a:latin typeface="Aptos"/>
              </a:rPr>
              <a:t>Period i jedinica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852928"/>
            <a:ext cx="42611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90"/>
                </a:solidFill>
                <a:latin typeface="Aptos"/>
              </a:rPr>
              <a:t>Da li je broj za pravi datum i u pravoj skali?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22191" y="3538728"/>
            <a:ext cx="7242049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22191" y="387705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413B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58768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13F"/>
                </a:solidFill>
                <a:latin typeface="Aptos"/>
              </a:rPr>
              <a:t>Vlasništvo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58768"/>
            <a:ext cx="42611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90"/>
                </a:solidFill>
                <a:latin typeface="Aptos"/>
              </a:rPr>
              <a:t>Da li citat zaista pripada banci o kojoj se govori?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22191" y="4544568"/>
            <a:ext cx="7242049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22191" y="48828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413B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864608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13F"/>
                </a:solidFill>
                <a:latin typeface="Aptos"/>
              </a:rPr>
              <a:t>Apstinencija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864608"/>
            <a:ext cx="42611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90"/>
                </a:solidFill>
                <a:latin typeface="Aptos"/>
              </a:rPr>
              <a:t>Šta sistem radi kada dokaz nije dovoljan?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22191" y="5550408"/>
            <a:ext cx="7242049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3232" y="4910328"/>
            <a:ext cx="2267712" cy="749808"/>
          </a:xfrm>
          <a:prstGeom prst="roundRect">
            <a:avLst>
              <a:gd name="adj" fmla="val 8000"/>
            </a:avLst>
          </a:prstGeom>
          <a:solidFill>
            <a:srgbClr val="E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065776"/>
            <a:ext cx="19019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59B1"/>
                </a:solidFill>
                <a:latin typeface="Aptos"/>
              </a:rPr>
              <a:t>Generički odgovor ≠
proverena činjenica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57590"/>
                </a:solidFill>
                <a:latin typeface="Aptos"/>
              </a:rPr>
              <a:t>02. REŠENJE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30936"/>
            <a:ext cx="10863072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34472" y="2834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03 / 12</a:t>
            </a:r>
          </a:p>
        </p:txBody>
      </p:sp>
      <p:pic>
        <p:nvPicPr>
          <p:cNvPr id="5" name="Picture 4" descr="bankscope-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048" y="201168"/>
            <a:ext cx="202758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832104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13F"/>
                </a:solidFill>
                <a:latin typeface="Aptos"/>
              </a:rPr>
              <a:t>BankScope: istraživanje koje prati dokaz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35024"/>
            <a:ext cx="10378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Jedan lokalni workspace za razgovor, filing istraživanje, poređenja i dokumente.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46504"/>
            <a:ext cx="7388352" cy="43525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nkscope-home-soft.jpg"/>
          <p:cNvPicPr>
            <a:picLocks noChangeAspect="1"/>
          </p:cNvPicPr>
          <p:nvPr/>
        </p:nvPicPr>
        <p:blipFill>
          <a:blip r:embed="rId3"/>
          <a:srcRect t="4276" b="4276"/>
          <a:stretch>
            <a:fillRect/>
          </a:stretch>
        </p:blipFill>
        <p:spPr>
          <a:xfrm>
            <a:off x="749808" y="1847088"/>
            <a:ext cx="7205472" cy="41696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94192" y="1755648"/>
            <a:ext cx="3154680" cy="585216"/>
          </a:xfrm>
          <a:prstGeom prst="roundRect">
            <a:avLst>
              <a:gd name="adj" fmla="val 8000"/>
            </a:avLst>
          </a:prstGeom>
          <a:solidFill>
            <a:srgbClr val="10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1920240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10 američkih banaka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633472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24544" y="26151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13F"/>
                </a:solidFill>
                <a:latin typeface="Aptos"/>
              </a:rPr>
              <a:t>Kanonski citati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4" y="2916936"/>
            <a:ext cx="23591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Odgovor otvara puni izvorni dokaz.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529584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351129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13F"/>
                </a:solidFill>
                <a:latin typeface="Aptos"/>
              </a:rPr>
              <a:t>Multi-bank poređenje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3813048"/>
            <a:ext cx="23591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Svaka banka se obrađuje nezavisno.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425696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44074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13F"/>
                </a:solidFill>
                <a:latin typeface="Aptos"/>
              </a:rPr>
              <a:t>Pametna ruta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4709160"/>
            <a:ext cx="23591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Filing, web, kalkulator ili direktan odgovor.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321808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5303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13F"/>
                </a:solidFill>
                <a:latin typeface="Aptos"/>
              </a:rPr>
              <a:t>Lokalne niti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5605272"/>
            <a:ext cx="23591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SQLite čuva razgovore i metadata citata.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57590"/>
                </a:solidFill>
                <a:latin typeface="Aptos"/>
              </a:rPr>
              <a:t>03. RAZLIKA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30936"/>
            <a:ext cx="10863072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34472" y="2834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04 / 12</a:t>
            </a:r>
          </a:p>
        </p:txBody>
      </p:sp>
      <p:pic>
        <p:nvPicPr>
          <p:cNvPr id="5" name="Picture 4" descr="bankscope-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048" y="201168"/>
            <a:ext cx="202758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832104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13F"/>
                </a:solidFill>
                <a:latin typeface="Aptos"/>
              </a:rPr>
              <a:t>Nije samo „chat nad PDF-om“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35024"/>
            <a:ext cx="10378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Razlika je u tome ko kontroliše opseg, dokaz i validaciju.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2" y="1728216"/>
            <a:ext cx="64008" cy="4480560"/>
          </a:xfrm>
          <a:prstGeom prst="rect">
            <a:avLst/>
          </a:prstGeom>
          <a:solidFill>
            <a:srgbClr val="10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57590"/>
                </a:solidFill>
                <a:latin typeface="Aptos"/>
              </a:rPr>
              <a:t>STANDARDNO REŠENJE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0213F"/>
                </a:solidFill>
                <a:latin typeface="Aptos"/>
              </a:rPr>
              <a:t>Pitanje + nekoliko chunk-ova +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36392"/>
            <a:ext cx="468172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t>• </a:t>
            </a:r>
            <a:r>
              <a:rPr sz="1500">
                <a:solidFill>
                  <a:srgbClr val="657590"/>
                </a:solidFill>
                <a:latin typeface="Aptos"/>
              </a:rPr>
              <a:t>Kontekst se često bira bez domenskog scope-a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t>• </a:t>
            </a:r>
            <a:r>
              <a:rPr sz="1500">
                <a:solidFill>
                  <a:srgbClr val="657590"/>
                </a:solidFill>
                <a:latin typeface="Aptos"/>
              </a:rPr>
              <a:t>Tabela može biti isečena od zaglavlja ili jedinice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t>• </a:t>
            </a:r>
            <a:r>
              <a:rPr sz="1500">
                <a:solidFill>
                  <a:srgbClr val="657590"/>
                </a:solidFill>
                <a:latin typeface="Aptos"/>
              </a:rPr>
              <a:t>Citat može zvučati uverljivo, ali biti pogrešno pripisan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t>• </a:t>
            </a:r>
            <a:r>
              <a:rPr sz="1500">
                <a:solidFill>
                  <a:srgbClr val="657590"/>
                </a:solidFill>
                <a:latin typeface="Aptos"/>
              </a:rPr>
              <a:t>Plausible odgovor često prolazi i kada dokaz nije dovoljan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783080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9B1"/>
                </a:solidFill>
                <a:latin typeface="Aptos"/>
              </a:rPr>
              <a:t>BANKSCOPE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194560"/>
            <a:ext cx="46817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0213F"/>
                </a:solidFill>
                <a:latin typeface="Aptos"/>
              </a:rPr>
              <a:t>Kontrolisan evidence-grounded cevovod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136392"/>
            <a:ext cx="4645152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t>• </a:t>
            </a:r>
            <a:r>
              <a:rPr sz="1500">
                <a:solidFill>
                  <a:srgbClr val="10213F"/>
                </a:solidFill>
                <a:latin typeface="Aptos"/>
              </a:rPr>
              <a:t>Registry i runtime određuju banku, period i budžete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t>• </a:t>
            </a:r>
            <a:r>
              <a:rPr sz="1500">
                <a:solidFill>
                  <a:srgbClr val="10213F"/>
                </a:solidFill>
                <a:latin typeface="Aptos"/>
              </a:rPr>
              <a:t>Retrieval opis vodi do kompletne kanonske tabele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t>• </a:t>
            </a:r>
            <a:r>
              <a:rPr sz="1500">
                <a:solidFill>
                  <a:srgbClr val="10213F"/>
                </a:solidFill>
                <a:latin typeface="Aptos"/>
              </a:rPr>
              <a:t>Citat, banka, broj, jedinica i period se proveravaju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t>• </a:t>
            </a:r>
            <a:r>
              <a:rPr sz="1500">
                <a:solidFill>
                  <a:srgbClr val="10213F"/>
                </a:solidFill>
                <a:latin typeface="Aptos"/>
              </a:rPr>
              <a:t>Kada podrška ne postoji, rezultat je jasno unsupported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8232" y="5650992"/>
            <a:ext cx="3931920" cy="438912"/>
          </a:xfrm>
          <a:prstGeom prst="roundRect">
            <a:avLst>
              <a:gd name="adj" fmla="val 8000"/>
            </a:avLst>
          </a:prstGeom>
          <a:solidFill>
            <a:srgbClr val="E1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5769864"/>
            <a:ext cx="35478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5C38"/>
                </a:solidFill>
                <a:latin typeface="Aptos"/>
              </a:rPr>
              <a:t>Dokument je izvor činjenica. Model je sloj sinteze.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1E8F8"/>
                </a:solidFill>
                <a:latin typeface="Aptos"/>
              </a:rPr>
              <a:t>04. ARHITEKTURA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30936"/>
            <a:ext cx="10863072" cy="0"/>
          </a:xfrm>
          <a:prstGeom prst="line">
            <a:avLst/>
          </a:prstGeom>
          <a:ln w="8890">
            <a:solidFill>
              <a:srgbClr val="5D8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34472" y="2834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1E8F8"/>
                </a:solidFill>
                <a:latin typeface="Aptos"/>
              </a:rPr>
              <a:t>05 / 12</a:t>
            </a:r>
          </a:p>
        </p:txBody>
      </p:sp>
      <p:pic>
        <p:nvPicPr>
          <p:cNvPr id="5" name="Picture 4" descr="bankscope-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048" y="201168"/>
            <a:ext cx="202758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832104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Kako sistem radi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35024"/>
            <a:ext cx="10378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1E8F8"/>
                </a:solidFill>
                <a:latin typeface="Aptos"/>
              </a:rPr>
              <a:t>Offline priprema pretvara filing u proverljiv indeks; online putanja vraća validiran odgovor.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D83D5"/>
                </a:solidFill>
                <a:latin typeface="Aptos"/>
              </a:rPr>
              <a:t>OFFLINE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57984"/>
            <a:ext cx="1170432" cy="786384"/>
          </a:xfrm>
          <a:prstGeom prst="roundRect">
            <a:avLst>
              <a:gd name="adj" fmla="val 8000"/>
            </a:avLst>
          </a:prstGeom>
          <a:solidFill>
            <a:srgbClr val="173F7A"/>
          </a:solidFill>
          <a:ln w="10160">
            <a:solidFill>
              <a:srgbClr val="5D8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76272"/>
            <a:ext cx="98755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SEC
10-K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93392" y="2441448"/>
            <a:ext cx="329184" cy="201168"/>
          </a:xfrm>
          <a:prstGeom prst="rightArrow">
            <a:avLst/>
          </a:prstGeom>
          <a:solidFill>
            <a:srgbClr val="5D8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32304" y="2157984"/>
            <a:ext cx="1207008" cy="786384"/>
          </a:xfrm>
          <a:prstGeom prst="roundRect">
            <a:avLst>
              <a:gd name="adj" fmla="val 8000"/>
            </a:avLst>
          </a:prstGeom>
          <a:solidFill>
            <a:srgbClr val="173F7A"/>
          </a:solidFill>
          <a:ln w="10160">
            <a:solidFill>
              <a:srgbClr val="5D8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2176272"/>
            <a:ext cx="10241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sec2md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49039" y="2441448"/>
            <a:ext cx="329184" cy="201168"/>
          </a:xfrm>
          <a:prstGeom prst="rightArrow">
            <a:avLst/>
          </a:prstGeom>
          <a:solidFill>
            <a:srgbClr val="5D8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87952" y="1865376"/>
            <a:ext cx="1389888" cy="676656"/>
          </a:xfrm>
          <a:prstGeom prst="roundRect">
            <a:avLst>
              <a:gd name="adj" fmla="val 8000"/>
            </a:avLst>
          </a:prstGeom>
          <a:solidFill>
            <a:srgbClr val="173F7A"/>
          </a:solidFill>
          <a:ln w="10160">
            <a:solidFill>
              <a:srgbClr val="5D8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1883664"/>
            <a:ext cx="12070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Narrative
chunk-ovi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7952" y="2670048"/>
            <a:ext cx="1389888" cy="676656"/>
          </a:xfrm>
          <a:prstGeom prst="roundRect">
            <a:avLst>
              <a:gd name="adj" fmla="val 8000"/>
            </a:avLst>
          </a:prstGeom>
          <a:solidFill>
            <a:srgbClr val="173F7A"/>
          </a:solidFill>
          <a:ln w="10160">
            <a:solidFill>
              <a:srgbClr val="EE4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2688336"/>
            <a:ext cx="12070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Kompletne
tabele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931920" y="2203704"/>
            <a:ext cx="256032" cy="338328"/>
          </a:xfrm>
          <a:prstGeom prst="line">
            <a:avLst/>
          </a:prstGeom>
          <a:ln w="16510">
            <a:solidFill>
              <a:srgbClr val="5D8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2542032"/>
            <a:ext cx="256032" cy="466344"/>
          </a:xfrm>
          <a:prstGeom prst="line">
            <a:avLst/>
          </a:prstGeom>
          <a:ln w="16510">
            <a:solidFill>
              <a:srgbClr val="5D8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ight Arrow 20"/>
          <p:cNvSpPr/>
          <p:nvPr/>
        </p:nvSpPr>
        <p:spPr>
          <a:xfrm>
            <a:off x="5687568" y="2441448"/>
            <a:ext cx="329184" cy="201168"/>
          </a:xfrm>
          <a:prstGeom prst="rightArrow">
            <a:avLst/>
          </a:prstGeom>
          <a:solidFill>
            <a:srgbClr val="5D8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2157984"/>
            <a:ext cx="1426464" cy="786384"/>
          </a:xfrm>
          <a:prstGeom prst="roundRect">
            <a:avLst>
              <a:gd name="adj" fmla="val 8000"/>
            </a:avLst>
          </a:prstGeom>
          <a:solidFill>
            <a:srgbClr val="3459B1"/>
          </a:solidFill>
          <a:ln w="10160">
            <a:solidFill>
              <a:srgbClr val="5D8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176272"/>
            <a:ext cx="12435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Qdrant
+ BM25S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81304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D83D5"/>
                </a:solidFill>
                <a:latin typeface="Aptos"/>
              </a:rPr>
              <a:t>ONLINE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151376"/>
            <a:ext cx="1170432" cy="786384"/>
          </a:xfrm>
          <a:prstGeom prst="roundRect">
            <a:avLst>
              <a:gd name="adj" fmla="val 8000"/>
            </a:avLst>
          </a:prstGeom>
          <a:solidFill>
            <a:srgbClr val="173F7A"/>
          </a:solidFill>
          <a:ln w="10160">
            <a:solidFill>
              <a:srgbClr val="5D8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69663"/>
            <a:ext cx="98755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Pitanje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93392" y="4434840"/>
            <a:ext cx="329184" cy="201168"/>
          </a:xfrm>
          <a:prstGeom prst="rightArrow">
            <a:avLst/>
          </a:prstGeom>
          <a:solidFill>
            <a:srgbClr val="5D8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32304" y="4151376"/>
            <a:ext cx="1371600" cy="786384"/>
          </a:xfrm>
          <a:prstGeom prst="roundRect">
            <a:avLst>
              <a:gd name="adj" fmla="val 8000"/>
            </a:avLst>
          </a:prstGeom>
          <a:solidFill>
            <a:srgbClr val="173F7A"/>
          </a:solidFill>
          <a:ln w="10160">
            <a:solidFill>
              <a:srgbClr val="5D8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23744" y="4169663"/>
            <a:ext cx="11887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Dense +
lexical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913632" y="4434840"/>
            <a:ext cx="329184" cy="201168"/>
          </a:xfrm>
          <a:prstGeom prst="rightArrow">
            <a:avLst/>
          </a:prstGeom>
          <a:solidFill>
            <a:srgbClr val="5D8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52544" y="4151376"/>
            <a:ext cx="1060704" cy="786384"/>
          </a:xfrm>
          <a:prstGeom prst="roundRect">
            <a:avLst>
              <a:gd name="adj" fmla="val 8000"/>
            </a:avLst>
          </a:prstGeom>
          <a:solidFill>
            <a:srgbClr val="3459B1"/>
          </a:solidFill>
          <a:ln w="10160">
            <a:solidFill>
              <a:srgbClr val="5D8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3983" y="4169663"/>
            <a:ext cx="8778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RRF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522976" y="4434840"/>
            <a:ext cx="329184" cy="201168"/>
          </a:xfrm>
          <a:prstGeom prst="rightArrow">
            <a:avLst/>
          </a:prstGeom>
          <a:solidFill>
            <a:srgbClr val="5D8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61888" y="4151376"/>
            <a:ext cx="1353312" cy="786384"/>
          </a:xfrm>
          <a:prstGeom prst="roundRect">
            <a:avLst>
              <a:gd name="adj" fmla="val 8000"/>
            </a:avLst>
          </a:prstGeom>
          <a:solidFill>
            <a:srgbClr val="173F7A"/>
          </a:solidFill>
          <a:ln w="10160">
            <a:solidFill>
              <a:srgbClr val="EE4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3327" y="4169663"/>
            <a:ext cx="117043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Kanonski
dokaz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424927" y="4434840"/>
            <a:ext cx="329184" cy="201168"/>
          </a:xfrm>
          <a:prstGeom prst="rightArrow">
            <a:avLst/>
          </a:prstGeom>
          <a:solidFill>
            <a:srgbClr val="5D8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3840" y="4151376"/>
            <a:ext cx="1572768" cy="786384"/>
          </a:xfrm>
          <a:prstGeom prst="roundRect">
            <a:avLst>
              <a:gd name="adj" fmla="val 8000"/>
            </a:avLst>
          </a:prstGeom>
          <a:solidFill>
            <a:srgbClr val="173F7A"/>
          </a:solidFill>
          <a:ln w="10160">
            <a:solidFill>
              <a:srgbClr val="5D8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4169663"/>
            <a:ext cx="13898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Strukturirana
generacija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546336" y="4434840"/>
            <a:ext cx="329184" cy="201168"/>
          </a:xfrm>
          <a:prstGeom prst="rightArrow">
            <a:avLst/>
          </a:prstGeom>
          <a:solidFill>
            <a:srgbClr val="5D8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85248" y="4151376"/>
            <a:ext cx="1481328" cy="786384"/>
          </a:xfrm>
          <a:prstGeom prst="roundRect">
            <a:avLst>
              <a:gd name="adj" fmla="val 8000"/>
            </a:avLst>
          </a:prstGeom>
          <a:solidFill>
            <a:srgbClr val="EE413B"/>
          </a:solidFill>
          <a:ln w="10160">
            <a:solidFill>
              <a:srgbClr val="EE4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76688" y="4169663"/>
            <a:ext cx="12984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Validiran
odgovor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1583" y="1920240"/>
            <a:ext cx="3364992" cy="1069848"/>
          </a:xfrm>
          <a:prstGeom prst="roundRect">
            <a:avLst>
              <a:gd name="adj" fmla="val 8000"/>
            </a:avLst>
          </a:prstGeom>
          <a:solidFill>
            <a:srgbClr val="0D315F"/>
          </a:solidFill>
          <a:ln w="10160">
            <a:solidFill>
              <a:srgbClr val="5D8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2112264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E8F8"/>
                </a:solidFill>
                <a:latin typeface="Aptos"/>
              </a:rPr>
              <a:t>Runtime kontroliše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459736"/>
            <a:ext cx="2889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banku · target ID · limite · budžete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7790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Fail closed: bez dokaza nema izmišljene tvrdnje.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57590"/>
                </a:solidFill>
                <a:latin typeface="Aptos"/>
              </a:rPr>
              <a:t>05. IZBOR TEHNIKA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30936"/>
            <a:ext cx="10863072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34472" y="2834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06 / 12</a:t>
            </a:r>
          </a:p>
        </p:txBody>
      </p:sp>
      <p:pic>
        <p:nvPicPr>
          <p:cNvPr id="5" name="Picture 4" descr="bankscope-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048" y="201168"/>
            <a:ext cx="202758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832104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13F"/>
                </a:solidFill>
                <a:latin typeface="Aptos"/>
              </a:rPr>
              <a:t>Tri tehnike, tri različita posla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35024"/>
            <a:ext cx="10378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Izbor nije bio trend-driven, već zasnovan na greškama koje svaka komponenta rešava.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E1E8F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9B1"/>
                </a:solidFill>
                <a:latin typeface="Aptos"/>
              </a:rPr>
              <a:t>DENSE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2670048"/>
            <a:ext cx="2779776" cy="0"/>
          </a:xfrm>
          <a:prstGeom prst="line">
            <a:avLst/>
          </a:prstGeom>
          <a:ln w="1016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3035808"/>
            <a:ext cx="2788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213F"/>
                </a:solidFill>
                <a:latin typeface="Aptos"/>
              </a:rPr>
              <a:t>Semantika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675887"/>
            <a:ext cx="2779776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90"/>
                </a:solidFill>
                <a:latin typeface="Aptos"/>
              </a:rPr>
              <a:t>Pronalaženje sličnog značenja kada pitanje i filing ne koriste isti izraz.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230368"/>
            <a:ext cx="1874519" cy="530352"/>
          </a:xfrm>
          <a:prstGeom prst="roundRect">
            <a:avLst>
              <a:gd name="adj" fmla="val 8000"/>
            </a:avLst>
          </a:prstGeom>
          <a:solidFill>
            <a:srgbClr val="10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385816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Qdrant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1874519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E1E8F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5655" y="2048256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9B1"/>
                </a:solidFill>
                <a:latin typeface="Aptos"/>
              </a:rPr>
              <a:t>LEXICAL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50791" y="2670048"/>
            <a:ext cx="2779777" cy="0"/>
          </a:xfrm>
          <a:prstGeom prst="line">
            <a:avLst/>
          </a:prstGeom>
          <a:ln w="1016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50791" y="3035808"/>
            <a:ext cx="2788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213F"/>
                </a:solidFill>
                <a:latin typeface="Aptos"/>
              </a:rPr>
              <a:t>Preciznost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1" y="3675887"/>
            <a:ext cx="2779776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90"/>
                </a:solidFill>
                <a:latin typeface="Aptos"/>
              </a:rPr>
              <a:t>Akronimi, godine, nazivi metrika i brojevi ostaju vidljivi pretrazi.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0791" y="5230368"/>
            <a:ext cx="1874519" cy="530352"/>
          </a:xfrm>
          <a:prstGeom prst="roundRect">
            <a:avLst>
              <a:gd name="adj" fmla="val 8000"/>
            </a:avLst>
          </a:prstGeom>
          <a:solidFill>
            <a:srgbClr val="10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2" y="5385816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BM25S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1874519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E1E8F8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2048256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E413B"/>
                </a:solidFill>
                <a:latin typeface="Aptos"/>
              </a:rPr>
              <a:t>FUSION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88352" y="2670048"/>
            <a:ext cx="2779776" cy="0"/>
          </a:xfrm>
          <a:prstGeom prst="line">
            <a:avLst/>
          </a:prstGeom>
          <a:ln w="1016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88352" y="3035808"/>
            <a:ext cx="2788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213F"/>
                </a:solidFill>
                <a:latin typeface="Aptos"/>
              </a:rPr>
              <a:t>Stabilan rang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3675887"/>
            <a:ext cx="2779776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57590"/>
                </a:solidFill>
                <a:latin typeface="Aptos"/>
              </a:rPr>
              <a:t>Dve rang-liste se spajaju bez direktnog poređenja nekompatibilnih skorova.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88352" y="5230368"/>
            <a:ext cx="1874519" cy="530352"/>
          </a:xfrm>
          <a:prstGeom prst="roundRect">
            <a:avLst>
              <a:gd name="adj" fmla="val 8000"/>
            </a:avLst>
          </a:prstGeom>
          <a:solidFill>
            <a:srgbClr val="EE4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1231" y="5385816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RRF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7192" y="591616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57590"/>
                </a:solidFill>
                <a:latin typeface="Aptos"/>
              </a:rPr>
              <a:t>A × B =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57590"/>
                </a:solidFill>
                <a:latin typeface="Aptos"/>
              </a:rPr>
              <a:t>06. KANONSKI DOKAZ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30936"/>
            <a:ext cx="10863072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34472" y="2834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07 / 12</a:t>
            </a:r>
          </a:p>
        </p:txBody>
      </p:sp>
      <p:pic>
        <p:nvPicPr>
          <p:cNvPr id="5" name="Picture 4" descr="bankscope-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048" y="201168"/>
            <a:ext cx="202758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832104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13F"/>
                </a:solidFill>
                <a:latin typeface="Aptos"/>
              </a:rPr>
              <a:t>Kompletna tabela ostaje dokaz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35024"/>
            <a:ext cx="10378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Retrieval traži kompaktan opis; odgovor dobija originalnu parser-emitted tabelu.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47088"/>
            <a:ext cx="107167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0213F"/>
                </a:solidFill>
                <a:latin typeface="Aptos"/>
              </a:rPr>
              <a:t>KRATAK OPIS</a:t>
            </a:r>
            <a:r>
              <a:rPr sz="2200" b="0">
                <a:solidFill>
                  <a:srgbClr val="EE413B"/>
                </a:solidFill>
                <a:latin typeface="Aptos"/>
              </a:rPr>
              <a:t>  ×  </a:t>
            </a:r>
            <a:r>
              <a:rPr sz="2200" b="1">
                <a:solidFill>
                  <a:srgbClr val="3459B1"/>
                </a:solidFill>
                <a:latin typeface="Aptos"/>
              </a:rPr>
              <a:t>HYDRATION</a:t>
            </a:r>
            <a:r>
              <a:rPr sz="2200" b="0">
                <a:solidFill>
                  <a:srgbClr val="EE413B"/>
                </a:solidFill>
                <a:latin typeface="Aptos"/>
              </a:rPr>
              <a:t>  =  </a:t>
            </a:r>
            <a:r>
              <a:rPr sz="2200" b="1">
                <a:solidFill>
                  <a:srgbClr val="10213F"/>
                </a:solidFill>
                <a:latin typeface="Aptos"/>
              </a:rPr>
              <a:t>KANONSKI DOKAZ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578608"/>
            <a:ext cx="2816352" cy="2441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07208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9B1"/>
                </a:solidFill>
                <a:latin typeface="Aptos"/>
              </a:rPr>
              <a:t>RETRIEVAL OPIS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73552"/>
            <a:ext cx="2340864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13F"/>
                </a:solidFill>
                <a:latin typeface="Aptos"/>
              </a:rPr>
              <a:t>„CET1 kapitalni odnos po Basel III standardizovanom pristupu, 2025.“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62272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90"/>
                </a:solidFill>
                <a:latin typeface="Aptos"/>
              </a:rPr>
              <a:t>mali · pretraživ · stabilan ID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86200" y="3694176"/>
            <a:ext cx="640080" cy="347472"/>
          </a:xfrm>
          <a:prstGeom prst="rightArrow">
            <a:avLst/>
          </a:prstGeom>
          <a:solidFill>
            <a:srgbClr val="EE4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55464" y="2578608"/>
            <a:ext cx="6601968" cy="2441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280720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E413B"/>
                </a:solidFill>
                <a:latin typeface="Aptos"/>
              </a:rPr>
              <a:t>KANONSKA TABELA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3218688"/>
            <a:ext cx="1865376" cy="420624"/>
          </a:xfrm>
          <a:prstGeom prst="rect">
            <a:avLst/>
          </a:prstGeom>
          <a:solidFill>
            <a:srgbClr val="F1F6FC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3346704"/>
            <a:ext cx="1719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METRIKA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639312"/>
            <a:ext cx="1865376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3840480"/>
            <a:ext cx="1719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13F"/>
                </a:solidFill>
                <a:latin typeface="Aptos"/>
              </a:rPr>
              <a:t>CET1 ratio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67728" y="3218688"/>
            <a:ext cx="1563624" cy="420624"/>
          </a:xfrm>
          <a:prstGeom prst="rect">
            <a:avLst/>
          </a:prstGeom>
          <a:solidFill>
            <a:srgbClr val="F1F6FC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346704"/>
            <a:ext cx="1417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PERIOD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3639312"/>
            <a:ext cx="1563624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84048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13F"/>
                </a:solidFill>
                <a:latin typeface="Aptos"/>
              </a:rPr>
              <a:t>31. 12. 2025.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3218688"/>
            <a:ext cx="1490472" cy="420624"/>
          </a:xfrm>
          <a:prstGeom prst="rect">
            <a:avLst/>
          </a:prstGeom>
          <a:solidFill>
            <a:srgbClr val="F1F6FC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4504" y="3346704"/>
            <a:ext cx="13441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JEDINICA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31352" y="3639312"/>
            <a:ext cx="1490472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04504" y="3840480"/>
            <a:ext cx="1344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13F"/>
                </a:solidFill>
                <a:latin typeface="Aptos"/>
              </a:rPr>
              <a:t>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21824" y="3218688"/>
            <a:ext cx="1170432" cy="420624"/>
          </a:xfrm>
          <a:prstGeom prst="rect">
            <a:avLst/>
          </a:prstGeom>
          <a:solidFill>
            <a:srgbClr val="F1F6FC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94976" y="3346704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VREDNOST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1824" y="3639312"/>
            <a:ext cx="1170432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94976" y="3840480"/>
            <a:ext cx="1024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13F"/>
                </a:solidFill>
                <a:latin typeface="Aptos"/>
              </a:rPr>
              <a:t>14,3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4507992"/>
            <a:ext cx="6044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5C38"/>
                </a:solidFill>
                <a:latin typeface="Aptos"/>
              </a:rPr>
              <a:t>zaglavlje + period + jedinica + vrednost ostaju zajedno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422392"/>
            <a:ext cx="10707624" cy="621792"/>
          </a:xfrm>
          <a:prstGeom prst="roundRect">
            <a:avLst>
              <a:gd name="adj" fmla="val 8000"/>
            </a:avLst>
          </a:prstGeom>
          <a:solidFill>
            <a:srgbClr val="E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5605272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59B1"/>
                </a:solidFill>
                <a:latin typeface="Aptos"/>
              </a:rPr>
              <a:t>Time se izbegava tipična RAG greška: broj bez konteksta izgleda tačno, ali nije dokaziv.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57590"/>
                </a:solidFill>
                <a:latin typeface="Aptos"/>
              </a:rPr>
              <a:t>07. PROIZVOD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30936"/>
            <a:ext cx="10863072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34472" y="2834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08 / 12</a:t>
            </a:r>
          </a:p>
        </p:txBody>
      </p:sp>
      <p:pic>
        <p:nvPicPr>
          <p:cNvPr id="5" name="Picture 4" descr="bankscope-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048" y="201168"/>
            <a:ext cx="202758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832104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13F"/>
                </a:solidFill>
                <a:latin typeface="Aptos"/>
              </a:rPr>
              <a:t>Dokaz je vidljiv u interfejsu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35024"/>
            <a:ext cx="10378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Stvarni React/FastAPI QA snimci — bez mockup-a i bez naknadnog doterivanja rezultata.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28216"/>
            <a:ext cx="541324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capital-one-cet1-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93" y="2039112"/>
            <a:ext cx="4985196" cy="14904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6384" y="1837943"/>
            <a:ext cx="1234440" cy="256032"/>
          </a:xfrm>
          <a:prstGeom prst="roundRect">
            <a:avLst>
              <a:gd name="adj" fmla="val 8000"/>
            </a:avLst>
          </a:prstGeom>
          <a:solidFill>
            <a:srgbClr val="10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74519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PRECIZAN ODGOVOR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67328"/>
            <a:ext cx="5413248" cy="2386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-capital-one-cet1-source-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602" y="4078224"/>
            <a:ext cx="2912779" cy="200253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6384" y="3877056"/>
            <a:ext cx="1234440" cy="256032"/>
          </a:xfrm>
          <a:prstGeom prst="roundRect">
            <a:avLst>
              <a:gd name="adj" fmla="val 8000"/>
            </a:avLst>
          </a:prstGeom>
          <a:solidFill>
            <a:srgbClr val="10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91363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KANONSKI IZVOR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28216"/>
            <a:ext cx="5303520" cy="4425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4-bac-citi-cet1-comparison-ans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449621"/>
            <a:ext cx="5157216" cy="322062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364224" y="1837943"/>
            <a:ext cx="1234440" cy="256032"/>
          </a:xfrm>
          <a:prstGeom prst="roundRect">
            <a:avLst>
              <a:gd name="adj" fmla="val 8000"/>
            </a:avLst>
          </a:prstGeom>
          <a:solidFill>
            <a:srgbClr val="10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874519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BANK-OWNED POREĐENJE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57590"/>
                </a:solidFill>
                <a:latin typeface="Aptos"/>
              </a:rPr>
              <a:t>08. REZULTATI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30936"/>
            <a:ext cx="10863072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34472" y="2834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09 / 12</a:t>
            </a:r>
          </a:p>
        </p:txBody>
      </p:sp>
      <p:pic>
        <p:nvPicPr>
          <p:cNvPr id="5" name="Picture 4" descr="bankscope-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048" y="201168"/>
            <a:ext cx="202758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832104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13F"/>
                </a:solidFill>
                <a:latin typeface="Aptos"/>
              </a:rPr>
              <a:t>Pouzdanost je merena, ne pretpostavljena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35024"/>
            <a:ext cx="10378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Odvojeni evaluacioni skupovi proveravaju retrieval, generaciju, poređenja i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47088"/>
            <a:ext cx="294436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847088"/>
            <a:ext cx="64008" cy="1755648"/>
          </a:xfrm>
          <a:prstGeom prst="rect">
            <a:avLst/>
          </a:prstGeom>
          <a:solidFill>
            <a:srgbClr val="34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48256"/>
            <a:ext cx="2423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13F"/>
                </a:solidFill>
                <a:latin typeface="Aptos"/>
              </a:rPr>
              <a:t>31/32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79776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9B1"/>
                </a:solidFill>
                <a:latin typeface="Aptos"/>
              </a:rPr>
              <a:t>RETRIEVAL · TOP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072384"/>
            <a:ext cx="2423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90"/>
                </a:solidFill>
                <a:latin typeface="Aptos"/>
              </a:rPr>
              <a:t>relevantan dokaz među prvih pet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14215" y="1847088"/>
            <a:ext cx="294436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14215" y="1847088"/>
            <a:ext cx="64008" cy="1755648"/>
          </a:xfrm>
          <a:prstGeom prst="rect">
            <a:avLst/>
          </a:prstGeom>
          <a:solidFill>
            <a:srgbClr val="34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2048256"/>
            <a:ext cx="2423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13F"/>
                </a:solidFill>
                <a:latin typeface="Aptos"/>
              </a:rPr>
              <a:t>32/32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779776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9B1"/>
                </a:solidFill>
                <a:latin typeface="Aptos"/>
              </a:rPr>
              <a:t>RETRIEVAL · TOP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3072384"/>
            <a:ext cx="2423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90"/>
                </a:solidFill>
                <a:latin typeface="Aptos"/>
              </a:rPr>
              <a:t>potpuna pokrivenost evaluacionog skupa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847088"/>
            <a:ext cx="294436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847088"/>
            <a:ext cx="64008" cy="1755648"/>
          </a:xfrm>
          <a:prstGeom prst="rect">
            <a:avLst/>
          </a:prstGeom>
          <a:solidFill>
            <a:srgbClr val="EE4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2088" y="2048256"/>
            <a:ext cx="2423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13F"/>
                </a:solidFill>
                <a:latin typeface="Aptos"/>
              </a:rPr>
              <a:t>30/30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5" y="2779776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9B1"/>
                </a:solidFill>
                <a:latin typeface="Aptos"/>
              </a:rPr>
              <a:t>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3072384"/>
            <a:ext cx="2423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90"/>
                </a:solidFill>
                <a:latin typeface="Aptos"/>
              </a:rPr>
              <a:t>pitanja prošla sve ugovore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986784"/>
            <a:ext cx="294436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986784"/>
            <a:ext cx="64008" cy="1755648"/>
          </a:xfrm>
          <a:prstGeom prst="rect">
            <a:avLst/>
          </a:prstGeom>
          <a:solidFill>
            <a:srgbClr val="34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187952"/>
            <a:ext cx="2423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13F"/>
                </a:solidFill>
                <a:latin typeface="Aptos"/>
              </a:rPr>
              <a:t>3/3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9194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9B1"/>
                </a:solidFill>
                <a:latin typeface="Aptos"/>
              </a:rPr>
              <a:t>MULTI-BANK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212080"/>
            <a:ext cx="2423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90"/>
                </a:solidFill>
                <a:latin typeface="Aptos"/>
              </a:rPr>
              <a:t>prihvaćena poređenja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14215" y="3986784"/>
            <a:ext cx="294436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4215" y="3986784"/>
            <a:ext cx="64008" cy="1755648"/>
          </a:xfrm>
          <a:prstGeom prst="rect">
            <a:avLst/>
          </a:prstGeom>
          <a:solidFill>
            <a:srgbClr val="EE4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1104" y="4187952"/>
            <a:ext cx="2423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13F"/>
                </a:solidFill>
                <a:latin typeface="Apto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49194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9B1"/>
                </a:solidFill>
                <a:latin typeface="Aptos"/>
              </a:rPr>
              <a:t>OWNERSHIP POVREDA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5212080"/>
            <a:ext cx="2423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90"/>
                </a:solidFill>
                <a:latin typeface="Aptos"/>
              </a:rPr>
              <a:t>nijedan dokaz pripisan pogrešnoj banci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3986784"/>
            <a:ext cx="294436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0" y="3986784"/>
            <a:ext cx="64008" cy="1755648"/>
          </a:xfrm>
          <a:prstGeom prst="rect">
            <a:avLst/>
          </a:prstGeom>
          <a:solidFill>
            <a:srgbClr val="34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62088" y="4187952"/>
            <a:ext cx="2423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13F"/>
                </a:solidFill>
                <a:latin typeface="Aptos"/>
              </a:rPr>
              <a:t>96,36%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0375" y="49194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9B1"/>
                </a:solidFill>
                <a:latin typeface="Aptos"/>
              </a:rPr>
              <a:t>ROUTING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0375" y="5212080"/>
            <a:ext cx="2423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90"/>
                </a:solidFill>
                <a:latin typeface="Aptos"/>
              </a:rPr>
              <a:t>53 od 55 slučajeva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98017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90"/>
                </a:solidFill>
                <a:latin typeface="Aptos"/>
              </a:rPr>
              <a:t>Rezultati su vezani za verzionisane skupove i konkretne konfiguracije sistema.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57590"/>
                </a:solidFill>
                <a:latin typeface="Aptos"/>
              </a:rPr>
              <a:t>09. NAUČENO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30936"/>
            <a:ext cx="10863072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34472" y="2834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10 / 12</a:t>
            </a:r>
          </a:p>
        </p:txBody>
      </p:sp>
      <p:pic>
        <p:nvPicPr>
          <p:cNvPr id="5" name="Picture 4" descr="bankscope-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048" y="201168"/>
            <a:ext cx="202758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832104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13F"/>
                </a:solidFill>
                <a:latin typeface="Aptos"/>
              </a:rPr>
              <a:t>Najvažnije lekcije iz prakse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35024"/>
            <a:ext cx="10378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Tehnički napredak nije bio samo dodavanje komponenti, već preciznije definisanje granica.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75104" y="1856231"/>
            <a:ext cx="0" cy="4041649"/>
          </a:xfrm>
          <a:prstGeom prst="line">
            <a:avLst/>
          </a:prstGeom>
          <a:ln w="17780">
            <a:solidFill>
              <a:srgbClr val="345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764792" y="1901952"/>
            <a:ext cx="420624" cy="420624"/>
          </a:xfrm>
          <a:prstGeom prst="ellipse">
            <a:avLst/>
          </a:prstGeom>
          <a:solidFill>
            <a:srgbClr val="34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99339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892808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13F"/>
                </a:solidFill>
                <a:latin typeface="Aptos"/>
              </a:rPr>
              <a:t>Pouzdanost je osobina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24144" y="1892808"/>
            <a:ext cx="534009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57590"/>
                </a:solidFill>
                <a:latin typeface="Aptos"/>
              </a:rPr>
              <a:t>Acquisition, ID-evi, retrieval, hydration i validacija moraju raditi kao jedan lanac.</a:t>
            </a:r>
          </a:p>
        </p:txBody>
      </p:sp>
      <p:sp>
        <p:nvSpPr>
          <p:cNvPr id="13" name="Oval 12"/>
          <p:cNvSpPr/>
          <p:nvPr/>
        </p:nvSpPr>
        <p:spPr>
          <a:xfrm>
            <a:off x="1764792" y="2907792"/>
            <a:ext cx="420624" cy="420624"/>
          </a:xfrm>
          <a:prstGeom prst="ellipse">
            <a:avLst/>
          </a:prstGeom>
          <a:solidFill>
            <a:srgbClr val="34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10512" y="299923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898648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13F"/>
                </a:solidFill>
                <a:latin typeface="Aptos"/>
              </a:rPr>
              <a:t>Istorija nije dokaz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144" y="2898648"/>
            <a:ext cx="534009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57590"/>
                </a:solidFill>
                <a:latin typeface="Aptos"/>
              </a:rPr>
              <a:t>Memorija pomaže da razumemo follow-up, ali nova tvrdnja zahteva novu pretragu.</a:t>
            </a:r>
          </a:p>
        </p:txBody>
      </p:sp>
      <p:sp>
        <p:nvSpPr>
          <p:cNvPr id="17" name="Oval 16"/>
          <p:cNvSpPr/>
          <p:nvPr/>
        </p:nvSpPr>
        <p:spPr>
          <a:xfrm>
            <a:off x="1764792" y="3913632"/>
            <a:ext cx="420624" cy="420624"/>
          </a:xfrm>
          <a:prstGeom prst="ellipse">
            <a:avLst/>
          </a:prstGeom>
          <a:solidFill>
            <a:srgbClr val="34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0512" y="400507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904488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13F"/>
                </a:solidFill>
                <a:latin typeface="Aptos"/>
              </a:rPr>
              <a:t>Jednostavnije može biti bolje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4144" y="3904488"/>
            <a:ext cx="534009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57590"/>
                </a:solidFill>
                <a:latin typeface="Aptos"/>
              </a:rPr>
              <a:t>Evaluirani baseline ima veću vrednost od složenijeg pristupa bez prolaznog quality gate-a.</a:t>
            </a:r>
          </a:p>
        </p:txBody>
      </p:sp>
      <p:sp>
        <p:nvSpPr>
          <p:cNvPr id="21" name="Oval 20"/>
          <p:cNvSpPr/>
          <p:nvPr/>
        </p:nvSpPr>
        <p:spPr>
          <a:xfrm>
            <a:off x="1764792" y="4919472"/>
            <a:ext cx="420624" cy="420624"/>
          </a:xfrm>
          <a:prstGeom prst="ellipse">
            <a:avLst/>
          </a:prstGeom>
          <a:solidFill>
            <a:srgbClr val="EE4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10512" y="501091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910328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13F"/>
                </a:solidFill>
                <a:latin typeface="Aptos"/>
              </a:rPr>
              <a:t>Fail-closed je proizvodna odluka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24144" y="4910328"/>
            <a:ext cx="534009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57590"/>
                </a:solidFill>
                <a:latin typeface="Aptos"/>
              </a:rPr>
              <a:t>Jasno unsupported je korisnije od uverljivog, ali nepotkrepljenog odgovora.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925312"/>
            <a:ext cx="10716768" cy="347472"/>
          </a:xfrm>
          <a:prstGeom prst="roundRect">
            <a:avLst>
              <a:gd name="adj" fmla="val 8000"/>
            </a:avLst>
          </a:prstGeom>
          <a:solidFill>
            <a:srgbClr val="E1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57590"/>
                </a:solidFill>
                <a:latin typeface="Aptos"/>
              </a:rPr>
              <a:t>10. IZAZOVI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30936"/>
            <a:ext cx="10863072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634472" y="2834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90"/>
                </a:solidFill>
                <a:latin typeface="Aptos"/>
              </a:rPr>
              <a:t>11 / 12</a:t>
            </a:r>
          </a:p>
        </p:txBody>
      </p:sp>
      <p:pic>
        <p:nvPicPr>
          <p:cNvPr id="5" name="Picture 4" descr="bankscope-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048" y="201168"/>
            <a:ext cx="202758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832104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13F"/>
                </a:solidFill>
                <a:latin typeface="Aptos"/>
              </a:rPr>
              <a:t>Najveći problemi nisu bili „model problemi“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35024"/>
            <a:ext cx="10378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590"/>
                </a:solidFill>
                <a:latin typeface="Aptos"/>
              </a:rPr>
              <a:t>Najviše rada zahtevale su granice podataka, vlasništvo dokaza i ponovljivost.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82296" cy="4270248"/>
          </a:xfrm>
          <a:prstGeom prst="rect">
            <a:avLst/>
          </a:prstGeom>
          <a:solidFill>
            <a:srgbClr val="EE4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1865376"/>
            <a:ext cx="2542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13F"/>
                </a:solidFill>
                <a:latin typeface="Aptos"/>
              </a:rPr>
              <a:t>Očuvanje tabela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865376"/>
            <a:ext cx="624535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57590"/>
                </a:solidFill>
                <a:latin typeface="Aptos"/>
              </a:rPr>
              <a:t>Vrednost mora ostati uz zaglavlje, period i jedinicu.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2514600"/>
            <a:ext cx="9966960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2743200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2670048"/>
            <a:ext cx="2542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13F"/>
                </a:solidFill>
                <a:latin typeface="Aptos"/>
              </a:rPr>
              <a:t>Izolacija banaka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670048"/>
            <a:ext cx="624535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57590"/>
                </a:solidFill>
                <a:latin typeface="Aptos"/>
              </a:rPr>
              <a:t>Jedan dokaz nikada ne sme da postane dokaz druge banke.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3319272"/>
            <a:ext cx="9966960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" y="3547872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3474720"/>
            <a:ext cx="2542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13F"/>
                </a:solidFill>
                <a:latin typeface="Aptos"/>
              </a:rPr>
              <a:t>Numerička validacija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474720"/>
            <a:ext cx="624535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57590"/>
                </a:solidFill>
                <a:latin typeface="Aptos"/>
              </a:rPr>
              <a:t>Model mora citirati izvor koji sadrži tačan broj i kontekst.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" y="4123944"/>
            <a:ext cx="9966960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7280" y="4352544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4279392"/>
            <a:ext cx="2542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13F"/>
                </a:solidFill>
                <a:latin typeface="Aptos"/>
              </a:rPr>
              <a:t>Stabilni artefakti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4279392"/>
            <a:ext cx="624535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57590"/>
                </a:solidFill>
                <a:latin typeface="Aptos"/>
              </a:rPr>
              <a:t>Hash-evi, dimenzije i ID-evi moraju ostati međusobno usklađeni.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7280" y="4928616"/>
            <a:ext cx="9966960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7280" y="5157216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2" y="5084064"/>
            <a:ext cx="2542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13F"/>
                </a:solidFill>
                <a:latin typeface="Aptos"/>
              </a:rPr>
              <a:t>Spoljne zavisnosti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5084064"/>
            <a:ext cx="624535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57590"/>
                </a:solidFill>
                <a:latin typeface="Aptos"/>
              </a:rPr>
              <a:t>Generacija i web ruta zavise od dostupnosti konfigurisanih providera.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97280" y="5733288"/>
            <a:ext cx="9966960" cy="0"/>
          </a:xfrm>
          <a:prstGeom prst="line">
            <a:avLst/>
          </a:prstGeom>
          <a:ln w="8890">
            <a:solidFill>
              <a:srgbClr val="D6DE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97280" y="602589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9B1"/>
                </a:solidFill>
                <a:latin typeface="Aptos"/>
              </a:rPr>
              <a:t>Glavna posledica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6896" y="5971032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13F"/>
                </a:solidFill>
                <a:latin typeface="Aptos"/>
              </a:rPr>
              <a:t>Svaka promena korpusa ili retrieval arhitekture zahteva rebuild i ponovnu evaluaciju.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1E8F8"/>
                </a:solidFill>
                <a:latin typeface="Aptos"/>
              </a:rPr>
              <a:t>11. SLEDEĆI KORACI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34472" y="2834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1E8F8"/>
                </a:solidFill>
                <a:latin typeface="Aptos"/>
              </a:rPr>
              <a:t>12 / 12</a:t>
            </a:r>
          </a:p>
        </p:txBody>
      </p:sp>
      <p:pic>
        <p:nvPicPr>
          <p:cNvPr id="4" name="Picture 3" descr="bankscope-m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048" y="201168"/>
            <a:ext cx="202758" cy="329184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658368" y="630936"/>
            <a:ext cx="10863072" cy="0"/>
          </a:xfrm>
          <a:prstGeom prst="line">
            <a:avLst/>
          </a:prstGeom>
          <a:ln w="8890">
            <a:solidFill>
              <a:srgbClr val="5D8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932688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Još jedan mesec.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892807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4" y="2322576"/>
            <a:ext cx="2240280" cy="0"/>
          </a:xfrm>
          <a:prstGeom prst="line">
            <a:avLst/>
          </a:prstGeom>
          <a:ln w="12700">
            <a:solidFill>
              <a:srgbClr val="5D8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2606040"/>
            <a:ext cx="226771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Deployment + autentikacija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892807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47288" y="2322576"/>
            <a:ext cx="2240280" cy="0"/>
          </a:xfrm>
          <a:prstGeom prst="line">
            <a:avLst/>
          </a:prstGeom>
          <a:ln w="12700">
            <a:solidFill>
              <a:srgbClr val="5D8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47288" y="2606040"/>
            <a:ext cx="226771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Širi korpus + nova evaluacija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1892807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99632" y="2322576"/>
            <a:ext cx="2240280" cy="0"/>
          </a:xfrm>
          <a:prstGeom prst="line">
            <a:avLst/>
          </a:prstGeom>
          <a:ln w="12700">
            <a:solidFill>
              <a:srgbClr val="5D8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99632" y="2606040"/>
            <a:ext cx="226771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Bolji upload i 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1976" y="1892807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413B"/>
                </a:solidFill>
                <a:latin typeface="Aptos"/>
              </a:rPr>
              <a:t>04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51976" y="2322576"/>
            <a:ext cx="2240279" cy="0"/>
          </a:xfrm>
          <a:prstGeom prst="line">
            <a:avLst/>
          </a:prstGeom>
          <a:ln w="12700">
            <a:solidFill>
              <a:srgbClr val="5D8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51976" y="2606040"/>
            <a:ext cx="226771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Ponovni Agentic RAG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3685032"/>
            <a:ext cx="10844784" cy="1664208"/>
          </a:xfrm>
          <a:prstGeom prst="roundRect">
            <a:avLst>
              <a:gd name="adj" fmla="val 8000"/>
            </a:avLst>
          </a:prstGeom>
          <a:solidFill>
            <a:srgbClr val="0D315F"/>
          </a:solidFill>
          <a:ln w="10160">
            <a:solidFill>
              <a:srgbClr val="5D8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050791"/>
            <a:ext cx="991209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„LLM nije izvor činjenica — dokument jeste.“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4855464"/>
            <a:ext cx="8522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1E8F8"/>
                </a:solidFill>
                <a:latin typeface="Aptos"/>
              </a:rPr>
              <a:t>BankScope pokazuje kako kontrolisan lanac dokaza pretvara generativni model u pouzdaniji istraživački alat.</a:t>
            </a:r>
          </a:p>
        </p:txBody>
      </p:sp>
      <p:pic>
        <p:nvPicPr>
          <p:cNvPr id="22" name="Picture 21" descr="bankscope-wordmark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314" y="5632704"/>
            <a:ext cx="1380891" cy="768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BankScope — inteligentno istraživanje bankarskih 10-K izveštaja</dc:title>
  <dc:subject>Prezentacija projekta stručne prakse</dc:subject>
  <dc:creator>Nikola Bakić</dc:creator>
  <cp:keywords>BankScope, RAG, SEC, bankarstvo, 10-K, Qdrant, BM25S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